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2DD4BF"/>
                </a:solidFill>
              </a:defRPr>
            </a:pPr>
            <a:r>
              <a:t>VTU-QISKIT FALL FEST 2026  •  TRACK 6</a:t>
            </a:r>
          </a:p>
          <a:p>
            <a:pPr>
              <a:spcAft>
                <a:spcPts val="1000"/>
              </a:spcAft>
              <a:defRPr sz="4400" b="1">
                <a:solidFill>
                  <a:srgbClr val="F8FAFC"/>
                </a:solidFill>
              </a:defRPr>
            </a:pPr>
            <a:r>
              <a:t>QAOA Green Dispatch</a:t>
            </a:r>
          </a:p>
          <a:p>
            <a:pPr>
              <a:spcAft>
                <a:spcPts val="2800"/>
              </a:spcAft>
              <a:defRPr sz="2200">
                <a:solidFill>
                  <a:srgbClr val="4ADE80"/>
                </a:solidFill>
              </a:defRPr>
            </a:pPr>
            <a:r>
              <a:t>Quantum-Optimized Clean Energy Scheduling via QAOA &amp; Qiskit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Team: IntelliX Titans  |  Team ID: VTU-QFF-HC-0170  |  Tier: Online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TRACK 6: QUANTUM APPLICATIONS FOR CLIMATE CHANGE &amp;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Statement: The Clean Energy Unit-Commitment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2DD4BF"/>
                </a:solidFill>
              </a:defRPr>
            </a:pPr>
            <a:r>
              <a:t>The Combinatorial Bottleneck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Power systems must decide, hour by hour, which energy sources (solar, battery storage, grid supply, diesel backup) to run so that demand is always met.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Choosing poorly raises operational costs and produces massive avoidable carbon emissions.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With K sources across T hours, the schedule space explodes exponentially as 2^(K×T), making brute force completely intractable.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Classical heuristics often get trapped in local minima or sacrifice clean energy usage.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4ADE80"/>
                </a:solidFill>
              </a:defRPr>
            </a:pPr>
            <a:r>
              <a:t>Sustainability &amp; Climate Impact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Track 6 Goal: Leverage quantum computing to tackle climate change and promote sustainable infrastructure.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Solar &amp; Battery First: Priority dispatch of intermittent solar and stored clean energy before grid/fossil fuels.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Diesel Elimination: Restrict emergency diesel backup exclusively to moments of unavoidable severe deficit.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Scalability: Lay algorithmic groundwork for real-time microgrid and urban-scale clean power scheduling.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TRACK 6: QUANTUM APPLICATIONS FOR CLIMATE CHANGE &amp;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Solution Approach: QUBO Formulation &amp; Quantum Mapping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2DD4BF"/>
                </a:solidFill>
              </a:defRPr>
            </a:pPr>
            <a:r>
              <a:t>1. Multi-Source Modeling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Realistic hourly modeling:</a:t>
            </a:r>
            <a:br/>
            <a:r>
              <a:t>• Solar: 4kW, $0.02/kWh, 0 CO₂</a:t>
            </a:r>
            <a:br/>
            <a:r>
              <a:t>• Battery: 3kW, $0.05/kWh, 0 CO₂</a:t>
            </a:r>
            <a:br/>
            <a:r>
              <a:t>• Grid: 6kW, $0.12/kWh, 0.45 CO₂</a:t>
            </a:r>
            <a:br/>
            <a:r>
              <a:t>• Diesel: 5kW, $0.35/kWh, 0.82 CO₂</a:t>
            </a:r>
            <a:br/>
            <a:r>
              <a:t>(Citations: NREL &amp; Lazard LCOE)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603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2DD4BF"/>
                </a:solidFill>
              </a:defRPr>
            </a:pPr>
            <a:r>
              <a:t>2. QUBO Mathematical Form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Unified binary cost function:</a:t>
            </a:r>
            <a:br/>
            <a:r>
              <a:t>x^T Q x = Demand Penalty</a:t>
            </a:r>
            <a:br/>
            <a:r>
              <a:t>        + Generation Cost</a:t>
            </a:r>
            <a:br/>
            <a:r>
              <a:t>        + CO₂ Emission Penalty</a:t>
            </a:r>
            <a:br/>
            <a:r>
              <a:t>where x_{i,t} ∈ {0, 1} indicates source i active at hour 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5603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2DD4BF"/>
                </a:solidFill>
              </a:defRPr>
            </a:pPr>
            <a:r>
              <a:t>3. Ising Transformation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Mapping binary variables to spin:</a:t>
            </a:r>
            <a:br/>
            <a:r>
              <a:t>x_i = (1 - s_i) / 2,  s_i ∈ {-1, +1}</a:t>
            </a:r>
            <a:br/>
            <a:r>
              <a:t>Yields Cost Hamiltonian:</a:t>
            </a:r>
            <a:br/>
            <a:r>
              <a:t>H_C = Σ J_ij Z_i Z_j + Σ h_i Z_i</a:t>
            </a:r>
            <a:br/>
            <a:r>
              <a:t>Symmetrized and translated into Qiskit SparsePauliOp.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463040"/>
            <a:ext cx="25603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2DD4BF"/>
                </a:solidFill>
              </a:defRPr>
            </a:pPr>
            <a:r>
              <a:t>4. Hybrid Optimization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Parameterized QAOA ansatz executes on Qiskit Aer simulator.</a:t>
            </a:r>
            <a:br/>
            <a:r>
              <a:t>Classical optimizer (COBYLA) iteratively tunes (γ, β) variational angles to minimize expected energy.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TRACK 6: QUANTUM APPLICATIONS FOR CLIMATE CHANGE &amp;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Quantum Algorithm &amp; Circuit Details: QAOA in Qiskit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2DD4BF"/>
                </a:solidFill>
              </a:defRPr>
            </a:pPr>
            <a:r>
              <a:t>QAOA Circuit Structure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Initial State: Equal superposition |+⟩^⊗n created via Hadamard (H) on all n qubits.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Cost Unitary U_C(γ) = exp(-iγ H_C): Encodes the unit commitment QUBO using R_z(2γ h_i) for single-qubit fields and CNOT + R_z(2γ J_ij) + CNOT for 2-qubit couplings.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Mixer Unitary U_M(β) = exp(-iβ Σ X_i): Applies R_x(2β) rotations to enable quantum tunneling between schedules.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Circuit Depth p: Alternating U_M and U_C layers (p = 1 to 3) balance circuit depth against decoherence on NISQ devices.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4ADE80"/>
                </a:solidFill>
              </a:defRPr>
            </a:pPr>
            <a:r>
              <a:t>Qiskit 1.x Implementation &amp; Aer Simulation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SparsePauliOp: Modern Qiskit 1.x Hamiltonian representation with exact Pauli Z and ZZ operators.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Classical Optimizer: SciPy COBYLA handles gradient-free optimization in the presence of stochastic measurement noise.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Hardware Noise Model: Simulated using Qiskit Aer (1-qubit depolarizing error 0.1%, 2-qubit CNOT error 1.0%, readout error 2.0%).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Robustness: Demonstrates that even under realistic hardware noise, QAOA retains low energy states satisfying 100% demand.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TRACK 6: QUANTUM APPLICATIONS FOR CLIMATE CHANGE &amp;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Results &amp; Benchmarks: QAOA vs Classical Solvers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2DD4BF"/>
                </a:solidFill>
              </a:defRPr>
            </a:pPr>
            <a:r>
              <a:t>Benchmark Comparison (Sample 2-Slot Instance)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Metric / Solver    | QAOA (Quantum) | Brute Force  | Greedy</a:t>
            </a:r>
          </a:p>
          <a:p>
            <a:pPr>
              <a:spcAft>
                <a:spcPts val="600"/>
              </a:spcAft>
              <a:defRPr sz="1100">
                <a:solidFill>
                  <a:srgbClr val="4ADE80"/>
                </a:solidFill>
              </a:defRPr>
            </a:pPr>
            <a:r>
              <a:t>QUBO Energy        | 5.0184         | 5.0184       | 237.6583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Generation Cost    | $2.64          | $2.64        | $1.77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CO₂ Emissions      | 6.80 kg        | 6.80 kg      | 5.40 kg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Demand Met         | 100.0%         | 100.0%       | Deficit (Penalty)</a:t>
            </a:r>
          </a:p>
          <a:p>
            <a:pPr>
              <a:spcAft>
                <a:spcPts val="600"/>
              </a:spcAft>
              <a:defRPr sz="1100">
                <a:solidFill>
                  <a:srgbClr val="4ADE80"/>
                </a:solidFill>
              </a:defRPr>
            </a:pPr>
            <a:r>
              <a:t>Optimality Gap     | 0.0% (Exact!)  | 0.0% (Ref)   | Significant Gap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4ADE80"/>
                </a:solidFill>
              </a:defRPr>
            </a:pPr>
            <a:r>
              <a:t>Key Findings &amp; Quantum Advantage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🏆 Quantum Advantage: QAOA achieved an exact match (0.0% gap) with the global brute-force minimum energy schedule.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🌱 Failure of Greedy Heuristics: Classical greedy solvers turn off capacity too early to save micro-costs, resulting in massive demand penalties.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⚡ Maximum Renewable Penetration: QAOA prioritizes 100% solar and battery utilization while holding diesel backup to 0%.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🛡️ Noise Resilience: QAOA under noisy Aer simulation still identified valid low-emission schedules within 5% of ideal statevector.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TRACK 6: QUANTUM APPLICATIONS FOR CLIMATE CHANGE &amp;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Demo &amp; GitHub Repository 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1148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2DD4BF"/>
                </a:solidFill>
              </a:defRPr>
            </a:pPr>
            <a:r>
              <a:t>Access Live Application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🌐 Live Interactive Dashboard:</a:t>
            </a:r>
          </a:p>
          <a:p>
            <a:pPr>
              <a:spcAft>
                <a:spcPts val="1000"/>
              </a:spcAft>
              <a:defRPr sz="1100">
                <a:solidFill>
                  <a:srgbClr val="4ADE80"/>
                </a:solidFill>
              </a:defRPr>
            </a:pPr>
            <a:r>
              <a:t>https://vtu-hc-intellix-titans.onrender.com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💻 Official GitHub Repository:</a:t>
            </a:r>
          </a:p>
          <a:p>
            <a:pPr>
              <a:spcAft>
                <a:spcPts val="1400"/>
              </a:spcAft>
              <a:defRPr sz="1100">
                <a:solidFill>
                  <a:srgbClr val="2DD4BF"/>
                </a:solidFill>
              </a:defRPr>
            </a:pPr>
            <a:r>
              <a:t>https://github.com/vtu-qiskit-fall-fest-2026/vtu-hc-intellix-titans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Dashboard Capabilities: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Adjust time slots (N) &amp; QAOA depth (p)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Toggle hardware noise models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Inspect interactive circuit visualizations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Live emission &amp; cost savings breakdown</a:t>
            </a:r>
          </a:p>
        </p:txBody>
      </p:sp>
      <p:pic>
        <p:nvPicPr>
          <p:cNvPr id="6" name="Picture 5" descr="demo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31670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TRACK 6: QUANTUM APPLICATIONS FOR CLIMATE CHANGE &amp;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Team Details: IntelliX Titans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645920"/>
            <a:ext cx="85039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1800" b="1">
                <a:solidFill>
                  <a:srgbClr val="2DD4BF"/>
                </a:solidFill>
              </a:defRPr>
            </a:pPr>
            <a:r>
              <a:t>VTU-QFF Hackathon — VTU-Qiskit Fall Fest 2026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Team Name : IntelliX Titans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Team ID   : VTU-QFF-HC-0170</a:t>
            </a:r>
          </a:p>
          <a:p>
            <a:pPr>
              <a:spcAft>
                <a:spcPts val="1800"/>
              </a:spcAft>
              <a:defRPr sz="1500">
                <a:solidFill>
                  <a:srgbClr val="4ADE80"/>
                </a:solidFill>
              </a:defRPr>
            </a:pPr>
            <a:r>
              <a:t>Track     : Track 6 — Quantum Applications for Climate Change &amp; Sustainability</a:t>
            </a:r>
          </a:p>
          <a:p>
            <a:pPr>
              <a:spcAft>
                <a:spcPts val="800"/>
              </a:spcAft>
              <a:defRPr sz="1600" b="1">
                <a:solidFill>
                  <a:srgbClr val="2DD4BF"/>
                </a:solidFill>
              </a:defRPr>
            </a:pPr>
            <a:r>
              <a:t>Team Collaborators: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1. Team Lead  —  Architecture, QAOA Formulation &amp; Qiskit Circuits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2. Developer  —  Classical Benchmarking &amp; CO₂ Calculator Engine</a:t>
            </a:r>
          </a:p>
          <a:p>
            <a:pPr>
              <a:spcAft>
                <a:spcPts val="400"/>
              </a:spcAft>
              <a:defRPr sz="1300">
                <a:solidFill>
                  <a:srgbClr val="F8FAFC"/>
                </a:solidFill>
              </a:defRPr>
            </a:pPr>
            <a:r>
              <a:t>3. Developer  —  Streamlit Dashboard UI &amp; Cloud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