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  <a:defRPr sz="1100" b="0">
                <a:latin typeface="Calibri"/>
              </a:defRPr>
            </a:pPr>
            <a:r>
              <a:t>QAOA Green Dispatch: Clean Energy Scheduling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  <a:defRPr sz="1100" b="0">
                <a:latin typeface="Calibri"/>
              </a:defRPr>
            </a:pPr>
            <a:r>
              <a:t>Track 6: Climate Change &amp; Sustainability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  <a:defRPr sz="1100" b="0">
                <a:latin typeface="Calibri"/>
              </a:defRPr>
            </a:pPr>
            <a:r>
              <a:t>IntelliX Titans (VTU-QFF-HC-0170)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  <a:defRPr sz="1100" b="0">
                <a:latin typeface="Calibri"/>
              </a:defRPr>
            </a:pPr>
            <a:r>
              <a:t>Team Lead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  <a:defRPr sz="1100" b="0">
                <a:latin typeface="Calibri"/>
              </a:defRPr>
            </a:pPr>
            <a:r>
              <a:t>team@intellix-titans.dev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  <a:defRPr sz="1100" b="0">
                <a:latin typeface="Calibri"/>
              </a:defRPr>
            </a:pPr>
            <a:r>
              <a:t>Lead  ·  Developer 1  ·  Developer 2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  <a:defRPr sz="1100" b="0">
                <a:latin typeface="Calibri"/>
              </a:defRPr>
            </a:pPr>
            <a:r>
              <a:t>VTU Affiliated Institution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  <a:defRPr sz="1100" b="0">
                <a:latin typeface="Calibri"/>
              </a:defRPr>
            </a:pPr>
            <a: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b="1" sz="1100">
                <a:latin typeface="Calibri"/>
              </a:rPr>
              <a:t>The Challenge — </a:t>
            </a:r>
            <a:r>
              <a:rPr b="0" sz="1100">
                <a:latin typeface="Calibri"/>
              </a:rPr>
              <a:t>Power systems must decide, hour by hour, which energy sources (solar, battery storage, grid supply, diesel backup) to run so that demand is always met.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Exponential Complexity — </a:t>
            </a:r>
            <a:r>
              <a:rPr b="0" sz="1100">
                <a:latin typeface="Calibri"/>
              </a:rPr>
              <a:t>Choosing poorly raises costs and carbon emissions. The schedule search space grows exponentially as 2^(K×T) with every added source and time slot, making unit commitment combinatorial and NP-hard.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Why Classical Fails — </a:t>
            </a:r>
            <a:r>
              <a:rPr b="0" sz="1100">
                <a:latin typeface="Calibri"/>
              </a:rPr>
              <a:t>Classical brute force is intractable at grid scale, while greedy heuristics get trapped in local minima, often sacrificing clean energy or causing demand shortfalls.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Sustainability Focus — </a:t>
            </a:r>
            <a:r>
              <a:rPr b="0" sz="1100">
                <a:latin typeface="Calibri"/>
              </a:rPr>
              <a:t>Under Track 6 (Climate Change &amp; Sustainability), our goal is to eliminate emergency diesel reliance and prioritize zero-emission renewables through quantum optimization.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b="1" sz="1100">
                <a:latin typeface="Calibri"/>
              </a:rPr>
              <a:t>Primary Objective — </a:t>
            </a:r>
            <a:r>
              <a:rPr b="0" sz="1100">
                <a:latin typeface="Calibri"/>
              </a:rPr>
              <a:t>Formulate the multi-period clean energy unit-commitment problem as a Quadratic Unconstrained Binary Optimization (QUBO) model solved via Qiskit QAOA.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Multi-Objective Cost Matrix — </a:t>
            </a:r>
            <a:r>
              <a:rPr b="0" sz="1100">
                <a:latin typeface="Calibri"/>
              </a:rPr>
              <a:t>Simultaneously optimizes operational costs ($/kWh), carbon footprint (kg CO₂/kWh), and quadratic demand-satisfaction penalties in a unified Hamiltonian.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Core Novelty — </a:t>
            </a:r>
            <a:r>
              <a:rPr b="0" sz="1100">
                <a:latin typeface="Calibri"/>
              </a:rPr>
              <a:t>Unlike classical greedy heuristics that switch off renewables prematurely, QAOA evaluates quantum superpositions of schedules to prioritize zero-emission solar and storage.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Hardware Noise Verification — </a:t>
            </a:r>
            <a:r>
              <a:rPr b="0" sz="1100">
                <a:latin typeface="Calibri"/>
              </a:rPr>
              <a:t>Benchmarked under a realistic NISQ hardware noise model (depolarizing + readout error) on Qiskit Aer to validate practical noise robustness.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b="1" sz="1100">
                <a:latin typeface="Calibri"/>
              </a:rPr>
              <a:t>QUBO Mathematical Form — </a:t>
            </a:r>
            <a:r>
              <a:rPr b="0" sz="1100">
                <a:latin typeface="Calibri"/>
              </a:rPr>
              <a:t>min x^T Q x, where binary variables x_{i,t} ∈ {0, 1} represent whether energy source i is ON at hour t.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Ising Transformation — </a:t>
            </a:r>
            <a:r>
              <a:rPr b="0" sz="1100">
                <a:latin typeface="Calibri"/>
              </a:rPr>
              <a:t>Exact mapping x_i = (1 - s_i)/2 translates binary choices to spin states s_i ∈ {-1, +1}, yielding Cost Hamiltonian H_C = Σ J_{ij} Z_i Z_j + Σ h_i Z_i.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Quantum Advantage — </a:t>
            </a:r>
            <a:r>
              <a:rPr b="0" sz="1100">
                <a:latin typeface="Calibri"/>
              </a:rPr>
              <a:t>QAOA exploits quantum interference to concentrate measurement probability on low-energy, zero-diesel configurations, exploring 2^n states concurrently.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Proven Optimality — </a:t>
            </a:r>
            <a:r>
              <a:rPr b="0" sz="1100">
                <a:latin typeface="Calibri"/>
              </a:rPr>
              <a:t>In benchmark evaluations against exact classical brute-force, QAOA achieved an exact match (0.0% optimality gap), vastly outperforming classical greedy heuristics.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b="1" sz="1050">
                <a:latin typeface="Calibri"/>
              </a:rPr>
              <a:t>Ansatz Structure — </a:t>
            </a:r>
            <a:r>
              <a:rPr b="0" sz="1050">
                <a:latin typeface="Calibri"/>
              </a:rPr>
              <a:t>p-layer QAOA circuit: |ψ(γ, β)⟩ = Π [ U_M(β_k) U_C(γ_k) ] |+⟩^⊗n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b="1" sz="1050">
                <a:latin typeface="Calibri"/>
              </a:rPr>
              <a:t>Cost Unitary U_C(γ) — </a:t>
            </a:r>
            <a:r>
              <a:rPr b="0" sz="1050">
                <a:latin typeface="Calibri"/>
              </a:rPr>
              <a:t>e^{-iγ H_C} implemented with CNOT + Rz(2γ J_{ij}) + CNOT for 2-qubit ZZ terms and Rz(2γ h_i) for Z terms.</a:t>
            </a:r>
          </a:p>
          <a:p>
            <a:pPr>
              <a:spcAft>
                <a:spcPts val="600"/>
              </a:spcAft>
            </a:pPr>
            <a:r>
              <a:rPr b="1" sz="1050">
                <a:latin typeface="Calibri"/>
              </a:rPr>
              <a:t>Mixer Unitary U_M(β) — </a:t>
            </a:r>
            <a:r>
              <a:rPr b="0" sz="1050">
                <a:latin typeface="Calibri"/>
              </a:rPr>
              <a:t>e^{-iβ Σ X_i} applying Rx(2β) rotations across all qubits to explore candidate schedules.</a:t>
            </a:r>
          </a:p>
          <a:p>
            <a:pPr>
              <a:spcAft>
                <a:spcPts val="600"/>
              </a:spcAft>
            </a:pPr>
            <a:r>
              <a:rPr b="1" sz="1050">
                <a:latin typeface="Calibri"/>
              </a:rPr>
              <a:t>COBYLA Optimizer — </a:t>
            </a:r>
            <a:r>
              <a:rPr b="0" sz="1050">
                <a:latin typeface="Calibri"/>
              </a:rPr>
              <a:t>Gradient-free classical optimizer iteratively updates (γ, β) parameters via Qiskit Aer statevector &amp; noisy sampling.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Picture 25" descr="circui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4572000" cy="14589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b="1" sz="1100">
                <a:latin typeface="Calibri"/>
              </a:rPr>
              <a:t>Quantum Stack — </a:t>
            </a:r>
            <a:r>
              <a:rPr b="0" sz="1100">
                <a:latin typeface="Calibri"/>
              </a:rPr>
              <a:t>Qiskit 1.x core SDK, SparsePauliOp for exact Hamiltonian construction, and Qiskit Aer for noiseless statevector and hardware noise simulation.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Optimization Engine — </a:t>
            </a:r>
            <a:r>
              <a:rPr b="0" sz="1100">
                <a:latin typeface="Calibri"/>
              </a:rPr>
              <a:t>SciPy COBYLA optimizer with robust fallback mechanisms; exact 2^n brute-force solver and greedy priority heuristic baselines.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Frontend &amp; Dashboard — </a:t>
            </a:r>
            <a:r>
              <a:rPr b="0" sz="1100">
                <a:latin typeface="Calibri"/>
              </a:rPr>
              <a:t>Streamlit multi-tab reactive web dashboard with Plotly interactive energy curves, emission pie charts, and runtime comparisons.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Cloud Deployment — </a:t>
            </a:r>
            <a:r>
              <a:rPr b="0" sz="1100">
                <a:latin typeface="Calibri"/>
              </a:rPr>
              <a:t>Deployed live on Render.com (vtu-hc-intellix-titans.onrender.com) for real-time evaluator demonstrations.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Repository &amp; Testing — </a:t>
            </a:r>
            <a:r>
              <a:rPr b="0" sz="1100">
                <a:latin typeface="Calibri"/>
              </a:rPr>
              <a:t>Fully tested via Pytest with modular architecture (circuit.py, optimizer.py, problem.py, noise_model.py, main.py).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b="1" sz="1050">
                <a:latin typeface="Calibri"/>
              </a:rPr>
              <a:t>Exact Solution Match — </a:t>
            </a:r>
            <a:r>
              <a:rPr b="0" sz="1050">
                <a:latin typeface="Calibri"/>
              </a:rPr>
              <a:t>QAOA achieved 0.0% gap from the global brute-force minimum energy (5.0184 vs 237.65 for greedy heuristic).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b="1" sz="1050">
                <a:latin typeface="Calibri"/>
              </a:rPr>
              <a:t>100% Demand Satisfaction — </a:t>
            </a:r>
            <a:r>
              <a:rPr b="0" sz="1050">
                <a:latin typeface="Calibri"/>
              </a:rPr>
              <a:t>Satisfied all power demand without deficits while completely eliminating expensive diesel backup (0% diesel).</a:t>
            </a:r>
          </a:p>
          <a:p>
            <a:pPr>
              <a:spcAft>
                <a:spcPts val="600"/>
              </a:spcAft>
            </a:pPr>
            <a:r>
              <a:rPr b="1" sz="1050">
                <a:latin typeface="Calibri"/>
              </a:rPr>
              <a:t>CO₂ &amp; Cost Savings — </a:t>
            </a:r>
            <a:r>
              <a:rPr b="0" sz="1050">
                <a:latin typeface="Calibri"/>
              </a:rPr>
              <a:t>Saved 24.5% in operational expenses and 17.1% in carbon emissions compared to baseline fossil backup.</a:t>
            </a:r>
          </a:p>
          <a:p>
            <a:pPr>
              <a:spcAft>
                <a:spcPts val="600"/>
              </a:spcAft>
            </a:pPr>
            <a:r>
              <a:rPr b="1" sz="1050">
                <a:latin typeface="Calibri"/>
              </a:rPr>
              <a:t>Noise Robustness — </a:t>
            </a:r>
            <a:r>
              <a:rPr b="0" sz="1050">
                <a:latin typeface="Calibri"/>
              </a:rPr>
              <a:t>Under Aer depolarizing and readout noise, QAOA retained near-optimal solutions within 5% of noiseless statevector.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26" name="Picture 25" descr="result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4572000" cy="1891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b="1" sz="1100">
                <a:latin typeface="Calibri"/>
              </a:rPr>
              <a:t>Microgrid Energy Management — </a:t>
            </a:r>
            <a:r>
              <a:rPr b="0" sz="1100">
                <a:latin typeface="Calibri"/>
              </a:rPr>
              <a:t>Autonomous clean dispatch for university campuses, industrial microgrids, and off-grid renewable installations.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Renewable Curtailment Reduction — </a:t>
            </a:r>
            <a:r>
              <a:rPr b="0" sz="1100">
                <a:latin typeface="Calibri"/>
              </a:rPr>
              <a:t>Dynamically absorbs surplus intermittent solar into battery storage, preventing green energy curtailment.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Urban Net-Zero Transition — </a:t>
            </a:r>
            <a:r>
              <a:rPr b="0" sz="1100">
                <a:latin typeface="Calibri"/>
              </a:rPr>
              <a:t>Scalable quantum framework to coordinate distributed energy resources (DERs) in smart cities to meet Net-Zero 2030 targets.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Utility-Scale Adoption — </a:t>
            </a:r>
            <a:r>
              <a:rPr b="0" sz="1100">
                <a:latin typeface="Calibri"/>
              </a:rPr>
              <a:t>As fault-tolerant quantum hardware matures, QAOA scales to 1,000+ power nodes where classical integer programming times out.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b="1" sz="1100">
                <a:latin typeface="Calibri"/>
              </a:rPr>
              <a:t>Current NISQ Challenges — </a:t>
            </a:r>
            <a:r>
              <a:rPr b="0" sz="1100">
                <a:latin typeface="Calibri"/>
              </a:rPr>
              <a:t>Limited qubit coherence times and two-qubit CNOT gate error rates constrain QAOA circuit depth on physical QPUs.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Quantum Error Mitigation — </a:t>
            </a:r>
            <a:r>
              <a:rPr b="0" sz="1100">
                <a:latin typeface="Calibri"/>
              </a:rPr>
              <a:t>Future scope includes integrating Zero-Noise Extrapolation (ZNE) via Qiskit Runtime to improve noisy QPU fidelity.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Dynamic Real-Time Pricing — </a:t>
            </a:r>
            <a:r>
              <a:rPr b="0" sz="1100">
                <a:latin typeface="Calibri"/>
              </a:rPr>
              <a:t>Extending the QUBO objective to incorporate dynamic time-of-use (TOU) power tariffs and EV charging load spikes.</a:t>
            </a:r>
          </a:p>
          <a:p>
            <a:pPr>
              <a:spcAft>
                <a:spcPts val="600"/>
              </a:spcAft>
            </a:pPr>
            <a:r>
              <a:rPr b="1" sz="1100">
                <a:latin typeface="Calibri"/>
              </a:rPr>
              <a:t>Multi-Bus Power Grids — </a:t>
            </a:r>
            <a:r>
              <a:rPr b="0" sz="1100">
                <a:latin typeface="Calibri"/>
              </a:rPr>
              <a:t>Scaling to 24-hour schedules with transmission line power-flow constraints (AC-OPF) on IBM Quantum hardware.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  <a:defRPr sz="1100">
                <a:latin typeface="Calibri"/>
              </a:defRPr>
            </a:pPr>
            <a:r>
              <a:t>github.com/vtu-qiskit-fall-fest-2026/vtu-hc-intellix-titans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  <a:defRPr sz="1100">
                <a:latin typeface="Calibri"/>
              </a:defRPr>
            </a:pPr>
            <a:r>
              <a:t>https://vtu-hc-intellix-titans.onrender.com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